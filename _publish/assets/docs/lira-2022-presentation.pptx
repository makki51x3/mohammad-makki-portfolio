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5"/>
  </p:notesMasterIdLst>
  <p:sldIdLst>
    <p:sldId id="278" r:id="rId5"/>
    <p:sldId id="286" r:id="rId6"/>
    <p:sldId id="279" r:id="rId7"/>
    <p:sldId id="281" r:id="rId8"/>
    <p:sldId id="287" r:id="rId9"/>
    <p:sldId id="285" r:id="rId10"/>
    <p:sldId id="288" r:id="rId11"/>
    <p:sldId id="290" r:id="rId12"/>
    <p:sldId id="291" r:id="rId13"/>
    <p:sldId id="28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C8C960-CB14-489C-88EC-4AF050F07D1C}" v="11" dt="2021-06-21T08:19:23.219"/>
    <p1510:client id="{7D6411C9-AA0A-489B-8685-D2C938B1D438}" v="529" dt="2022-07-27T11:36:54.5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3" d="100"/>
          <a:sy n="73" d="100"/>
        </p:scale>
        <p:origin x="61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7/27/2022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team was divided into two parts backend and frontend and a leader that guided the team and made sure everything goes as planned</a:t>
            </a:r>
          </a:p>
          <a:p>
            <a:endParaRPr lang="en-US" dirty="0"/>
          </a:p>
        </p:txBody>
      </p:sp>
      <p:sp>
        <p:nvSpPr>
          <p:cNvPr id="4" name="Slide Number Placeholder 3"/>
          <p:cNvSpPr>
            <a:spLocks noGrp="1"/>
          </p:cNvSpPr>
          <p:nvPr>
            <p:ph type="sldNum" sz="quarter" idx="5"/>
          </p:nvPr>
        </p:nvSpPr>
        <p:spPr/>
        <p:txBody>
          <a:bodyPr/>
          <a:lstStyle/>
          <a:p>
            <a:fld id="{2E6DE88F-1F85-4A27-9D34-D74A50E7B0DA}" type="slidenum">
              <a:rPr lang="en-US" smtClean="0"/>
              <a:t>2</a:t>
            </a:fld>
            <a:endParaRPr lang="en-US" dirty="0"/>
          </a:p>
        </p:txBody>
      </p:sp>
    </p:spTree>
    <p:extLst>
      <p:ext uri="{BB962C8B-B14F-4D97-AF65-F5344CB8AC3E}">
        <p14:creationId xmlns:p14="http://schemas.microsoft.com/office/powerpoint/2010/main" val="833461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7/27/2022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7/27/2022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7/27/2022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7/27/2022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7/27/2022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7/27/2022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7/27/2022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7/27/2022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7/27/2022</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7/27/2022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7/27/2022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7/27/2022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7/27/2022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7/27/2022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7/27/2022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7/27/2022</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3.png"/><Relationship Id="rId5" Type="http://schemas.openxmlformats.org/officeDocument/2006/relationships/image" Target="../media/image9.jpe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ideo" Target="https://www.youtube.com/embed/2Ir9hSbU31g?feature=oembed" TargetMode="Externa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1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402252" y="2226588"/>
            <a:ext cx="3485073" cy="2420504"/>
          </a:xfrm>
        </p:spPr>
        <p:txBody>
          <a:bodyPr>
            <a:normAutofit fontScale="90000"/>
          </a:bodyPr>
          <a:lstStyle/>
          <a:p>
            <a:r>
              <a:rPr lang="en-US" sz="2800" dirty="0">
                <a:ln>
                  <a:solidFill>
                    <a:prstClr val="black">
                      <a:lumMod val="75000"/>
                      <a:lumOff val="25000"/>
                      <a:alpha val="10000"/>
                    </a:prstClr>
                  </a:solidFill>
                </a:ln>
                <a:effectLst>
                  <a:outerShdw blurRad="9525" dist="25400" dir="14640000" algn="tl" rotWithShape="0">
                    <a:prstClr val="black">
                      <a:alpha val="30000"/>
                    </a:prstClr>
                  </a:outerShdw>
                </a:effectLst>
                <a:ea typeface="+mj-lt"/>
                <a:cs typeface="+mj-lt"/>
              </a:rPr>
              <a:t>A Cutting Edge App and Website Bringing AI to the Automatic Detection of Multi purpose Blood Diseases For Diagnosis, and Treatment</a:t>
            </a:r>
            <a:endParaRPr lang="en-US" dirty="0"/>
          </a:p>
        </p:txBody>
      </p:sp>
    </p:spTree>
    <p:extLst>
      <p:ext uri="{BB962C8B-B14F-4D97-AF65-F5344CB8AC3E}">
        <p14:creationId xmlns:p14="http://schemas.microsoft.com/office/powerpoint/2010/main" val="4167884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8761467-7640-47B1-90D4-04ADAD632C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738B1503-6FE9-46B4-9354-E943D91B11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05514" y="-2"/>
            <a:ext cx="8386486" cy="6858002"/>
          </a:xfrm>
          <a:custGeom>
            <a:avLst/>
            <a:gdLst>
              <a:gd name="connsiteX0" fmla="*/ 0 w 6088489"/>
              <a:gd name="connsiteY0" fmla="*/ 0 h 6858002"/>
              <a:gd name="connsiteX1" fmla="*/ 3563332 w 6088489"/>
              <a:gd name="connsiteY1" fmla="*/ 0 h 6858002"/>
              <a:gd name="connsiteX2" fmla="*/ 3563332 w 6088489"/>
              <a:gd name="connsiteY2" fmla="*/ 3 h 6858002"/>
              <a:gd name="connsiteX3" fmla="*/ 5842099 w 6088489"/>
              <a:gd name="connsiteY3" fmla="*/ 3 h 6858002"/>
              <a:gd name="connsiteX4" fmla="*/ 5842099 w 6088489"/>
              <a:gd name="connsiteY4" fmla="*/ 4 h 6858002"/>
              <a:gd name="connsiteX5" fmla="*/ 5835346 w 6088489"/>
              <a:gd name="connsiteY5" fmla="*/ 4 h 6858002"/>
              <a:gd name="connsiteX6" fmla="*/ 5841229 w 6088489"/>
              <a:gd name="connsiteY6" fmla="*/ 40466 h 6858002"/>
              <a:gd name="connsiteX7" fmla="*/ 5858543 w 6088489"/>
              <a:gd name="connsiteY7" fmla="*/ 159110 h 6858002"/>
              <a:gd name="connsiteX8" fmla="*/ 5870645 w 6088489"/>
              <a:gd name="connsiteY8" fmla="*/ 245521 h 6858002"/>
              <a:gd name="connsiteX9" fmla="*/ 5883420 w 6088489"/>
              <a:gd name="connsiteY9" fmla="*/ 348391 h 6858002"/>
              <a:gd name="connsiteX10" fmla="*/ 5898716 w 6088489"/>
              <a:gd name="connsiteY10" fmla="*/ 470463 h 6858002"/>
              <a:gd name="connsiteX11" fmla="*/ 5914853 w 6088489"/>
              <a:gd name="connsiteY11" fmla="*/ 605566 h 6858002"/>
              <a:gd name="connsiteX12" fmla="*/ 5931830 w 6088489"/>
              <a:gd name="connsiteY12" fmla="*/ 757813 h 6858002"/>
              <a:gd name="connsiteX13" fmla="*/ 5949815 w 6088489"/>
              <a:gd name="connsiteY13" fmla="*/ 923777 h 6858002"/>
              <a:gd name="connsiteX14" fmla="*/ 5967801 w 6088489"/>
              <a:gd name="connsiteY14" fmla="*/ 1104142 h 6858002"/>
              <a:gd name="connsiteX15" fmla="*/ 5986122 w 6088489"/>
              <a:gd name="connsiteY15" fmla="*/ 1296166 h 6858002"/>
              <a:gd name="connsiteX16" fmla="*/ 6003099 w 6088489"/>
              <a:gd name="connsiteY16" fmla="*/ 1503278 h 6858002"/>
              <a:gd name="connsiteX17" fmla="*/ 6019404 w 6088489"/>
              <a:gd name="connsiteY17" fmla="*/ 1719991 h 6858002"/>
              <a:gd name="connsiteX18" fmla="*/ 6034196 w 6088489"/>
              <a:gd name="connsiteY18" fmla="*/ 1949048 h 6858002"/>
              <a:gd name="connsiteX19" fmla="*/ 6048315 w 6088489"/>
              <a:gd name="connsiteY19" fmla="*/ 2187706 h 6858002"/>
              <a:gd name="connsiteX20" fmla="*/ 6061595 w 6088489"/>
              <a:gd name="connsiteY20" fmla="*/ 2436652 h 6858002"/>
              <a:gd name="connsiteX21" fmla="*/ 6066301 w 6088489"/>
              <a:gd name="connsiteY21" fmla="*/ 2564211 h 6858002"/>
              <a:gd name="connsiteX22" fmla="*/ 6071512 w 6088489"/>
              <a:gd name="connsiteY22" fmla="*/ 2694512 h 6858002"/>
              <a:gd name="connsiteX23" fmla="*/ 6076386 w 6088489"/>
              <a:gd name="connsiteY23" fmla="*/ 2826871 h 6858002"/>
              <a:gd name="connsiteX24" fmla="*/ 6079580 w 6088489"/>
              <a:gd name="connsiteY24" fmla="*/ 2959917 h 6858002"/>
              <a:gd name="connsiteX25" fmla="*/ 6082438 w 6088489"/>
              <a:gd name="connsiteY25" fmla="*/ 3095705 h 6858002"/>
              <a:gd name="connsiteX26" fmla="*/ 6085463 w 6088489"/>
              <a:gd name="connsiteY26" fmla="*/ 3232865 h 6858002"/>
              <a:gd name="connsiteX27" fmla="*/ 6087480 w 6088489"/>
              <a:gd name="connsiteY27" fmla="*/ 3372768 h 6858002"/>
              <a:gd name="connsiteX28" fmla="*/ 6087480 w 6088489"/>
              <a:gd name="connsiteY28" fmla="*/ 3514043 h 6858002"/>
              <a:gd name="connsiteX29" fmla="*/ 6088489 w 6088489"/>
              <a:gd name="connsiteY29" fmla="*/ 3656689 h 6858002"/>
              <a:gd name="connsiteX30" fmla="*/ 6087480 w 6088489"/>
              <a:gd name="connsiteY30" fmla="*/ 3800707 h 6858002"/>
              <a:gd name="connsiteX31" fmla="*/ 6085463 w 6088489"/>
              <a:gd name="connsiteY31" fmla="*/ 3946783 h 6858002"/>
              <a:gd name="connsiteX32" fmla="*/ 6083614 w 6088489"/>
              <a:gd name="connsiteY32" fmla="*/ 4092858 h 6858002"/>
              <a:gd name="connsiteX33" fmla="*/ 6079580 w 6088489"/>
              <a:gd name="connsiteY33" fmla="*/ 4240991 h 6858002"/>
              <a:gd name="connsiteX34" fmla="*/ 6075378 w 6088489"/>
              <a:gd name="connsiteY34" fmla="*/ 4390495 h 6858002"/>
              <a:gd name="connsiteX35" fmla="*/ 6070503 w 6088489"/>
              <a:gd name="connsiteY35" fmla="*/ 4540000 h 6858002"/>
              <a:gd name="connsiteX36" fmla="*/ 6063612 w 6088489"/>
              <a:gd name="connsiteY36" fmla="*/ 4690876 h 6858002"/>
              <a:gd name="connsiteX37" fmla="*/ 6055375 w 6088489"/>
              <a:gd name="connsiteY37" fmla="*/ 4843123 h 6858002"/>
              <a:gd name="connsiteX38" fmla="*/ 6047475 w 6088489"/>
              <a:gd name="connsiteY38" fmla="*/ 4996057 h 6858002"/>
              <a:gd name="connsiteX39" fmla="*/ 6037390 w 6088489"/>
              <a:gd name="connsiteY39" fmla="*/ 5148990 h 6858002"/>
              <a:gd name="connsiteX40" fmla="*/ 6025287 w 6088489"/>
              <a:gd name="connsiteY40" fmla="*/ 5303981 h 6858002"/>
              <a:gd name="connsiteX41" fmla="*/ 6013185 w 6088489"/>
              <a:gd name="connsiteY41" fmla="*/ 5456914 h 6858002"/>
              <a:gd name="connsiteX42" fmla="*/ 5999233 w 6088489"/>
              <a:gd name="connsiteY42" fmla="*/ 5612591 h 6858002"/>
              <a:gd name="connsiteX43" fmla="*/ 5983937 w 6088489"/>
              <a:gd name="connsiteY43" fmla="*/ 5768953 h 6858002"/>
              <a:gd name="connsiteX44" fmla="*/ 5967801 w 6088489"/>
              <a:gd name="connsiteY44" fmla="*/ 5923258 h 6858002"/>
              <a:gd name="connsiteX45" fmla="*/ 5948975 w 6088489"/>
              <a:gd name="connsiteY45" fmla="*/ 6079621 h 6858002"/>
              <a:gd name="connsiteX46" fmla="*/ 5928804 w 6088489"/>
              <a:gd name="connsiteY46" fmla="*/ 6235297 h 6858002"/>
              <a:gd name="connsiteX47" fmla="*/ 5908801 w 6088489"/>
              <a:gd name="connsiteY47" fmla="*/ 6391660 h 6858002"/>
              <a:gd name="connsiteX48" fmla="*/ 5885437 w 6088489"/>
              <a:gd name="connsiteY48" fmla="*/ 6547336 h 6858002"/>
              <a:gd name="connsiteX49" fmla="*/ 5861568 w 6088489"/>
              <a:gd name="connsiteY49" fmla="*/ 6702327 h 6858002"/>
              <a:gd name="connsiteX50" fmla="*/ 5836524 w 6088489"/>
              <a:gd name="connsiteY50" fmla="*/ 6858002 h 6858002"/>
              <a:gd name="connsiteX51" fmla="*/ 3563332 w 6088489"/>
              <a:gd name="connsiteY51" fmla="*/ 6858002 h 6858002"/>
              <a:gd name="connsiteX52" fmla="*/ 1223490 w 6088489"/>
              <a:gd name="connsiteY52" fmla="*/ 6858002 h 6858002"/>
              <a:gd name="connsiteX53" fmla="*/ 0 w 6088489"/>
              <a:gd name="connsiteY53"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088489" h="6858002">
                <a:moveTo>
                  <a:pt x="0" y="0"/>
                </a:moveTo>
                <a:lnTo>
                  <a:pt x="3563332" y="0"/>
                </a:lnTo>
                <a:lnTo>
                  <a:pt x="3563332" y="3"/>
                </a:lnTo>
                <a:lnTo>
                  <a:pt x="5842099" y="3"/>
                </a:lnTo>
                <a:lnTo>
                  <a:pt x="5842099" y="4"/>
                </a:lnTo>
                <a:lnTo>
                  <a:pt x="5835346" y="4"/>
                </a:lnTo>
                <a:lnTo>
                  <a:pt x="5841229" y="40466"/>
                </a:lnTo>
                <a:lnTo>
                  <a:pt x="5858543" y="159110"/>
                </a:lnTo>
                <a:lnTo>
                  <a:pt x="5870645" y="245521"/>
                </a:lnTo>
                <a:lnTo>
                  <a:pt x="5883420" y="348391"/>
                </a:lnTo>
                <a:lnTo>
                  <a:pt x="5898716" y="470463"/>
                </a:lnTo>
                <a:lnTo>
                  <a:pt x="5914853" y="605566"/>
                </a:lnTo>
                <a:lnTo>
                  <a:pt x="5931830" y="757813"/>
                </a:lnTo>
                <a:lnTo>
                  <a:pt x="5949815" y="923777"/>
                </a:lnTo>
                <a:lnTo>
                  <a:pt x="5967801" y="1104142"/>
                </a:lnTo>
                <a:lnTo>
                  <a:pt x="5986122" y="1296166"/>
                </a:lnTo>
                <a:lnTo>
                  <a:pt x="6003099" y="1503278"/>
                </a:lnTo>
                <a:lnTo>
                  <a:pt x="6019404" y="1719991"/>
                </a:lnTo>
                <a:lnTo>
                  <a:pt x="6034196" y="1949048"/>
                </a:lnTo>
                <a:lnTo>
                  <a:pt x="6048315" y="2187706"/>
                </a:lnTo>
                <a:lnTo>
                  <a:pt x="6061595" y="2436652"/>
                </a:lnTo>
                <a:lnTo>
                  <a:pt x="6066301" y="2564211"/>
                </a:lnTo>
                <a:lnTo>
                  <a:pt x="6071512" y="2694512"/>
                </a:lnTo>
                <a:lnTo>
                  <a:pt x="6076386" y="2826871"/>
                </a:lnTo>
                <a:lnTo>
                  <a:pt x="6079580" y="2959917"/>
                </a:lnTo>
                <a:lnTo>
                  <a:pt x="6082438" y="3095705"/>
                </a:lnTo>
                <a:lnTo>
                  <a:pt x="6085463" y="3232865"/>
                </a:lnTo>
                <a:lnTo>
                  <a:pt x="6087480" y="3372768"/>
                </a:lnTo>
                <a:lnTo>
                  <a:pt x="6087480" y="3514043"/>
                </a:lnTo>
                <a:lnTo>
                  <a:pt x="6088489" y="3656689"/>
                </a:lnTo>
                <a:lnTo>
                  <a:pt x="6087480" y="3800707"/>
                </a:lnTo>
                <a:lnTo>
                  <a:pt x="6085463" y="3946783"/>
                </a:lnTo>
                <a:lnTo>
                  <a:pt x="6083614" y="4092858"/>
                </a:lnTo>
                <a:lnTo>
                  <a:pt x="6079580" y="4240991"/>
                </a:lnTo>
                <a:lnTo>
                  <a:pt x="6075378" y="4390495"/>
                </a:lnTo>
                <a:lnTo>
                  <a:pt x="6070503" y="4540000"/>
                </a:lnTo>
                <a:lnTo>
                  <a:pt x="6063612" y="4690876"/>
                </a:lnTo>
                <a:lnTo>
                  <a:pt x="6055375" y="4843123"/>
                </a:lnTo>
                <a:lnTo>
                  <a:pt x="6047475" y="4996057"/>
                </a:lnTo>
                <a:lnTo>
                  <a:pt x="6037390" y="5148990"/>
                </a:lnTo>
                <a:lnTo>
                  <a:pt x="6025287" y="5303981"/>
                </a:lnTo>
                <a:lnTo>
                  <a:pt x="6013185" y="5456914"/>
                </a:lnTo>
                <a:lnTo>
                  <a:pt x="5999233" y="5612591"/>
                </a:lnTo>
                <a:lnTo>
                  <a:pt x="5983937" y="5768953"/>
                </a:lnTo>
                <a:lnTo>
                  <a:pt x="5967801" y="5923258"/>
                </a:lnTo>
                <a:lnTo>
                  <a:pt x="5948975" y="6079621"/>
                </a:lnTo>
                <a:lnTo>
                  <a:pt x="5928804" y="6235297"/>
                </a:lnTo>
                <a:lnTo>
                  <a:pt x="5908801" y="6391660"/>
                </a:lnTo>
                <a:lnTo>
                  <a:pt x="5885437" y="6547336"/>
                </a:lnTo>
                <a:lnTo>
                  <a:pt x="5861568" y="6702327"/>
                </a:lnTo>
                <a:lnTo>
                  <a:pt x="5836524" y="6858002"/>
                </a:lnTo>
                <a:lnTo>
                  <a:pt x="3563332" y="6858002"/>
                </a:lnTo>
                <a:lnTo>
                  <a:pt x="1223490" y="6858002"/>
                </a:lnTo>
                <a:lnTo>
                  <a:pt x="0" y="6858002"/>
                </a:lnTo>
                <a:close/>
              </a:path>
            </a:pathLst>
          </a:custGeom>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7DA45D-2075-4021-A4C6-F50F40F81946}"/>
              </a:ext>
            </a:extLst>
          </p:cNvPr>
          <p:cNvSpPr>
            <a:spLocks noGrp="1"/>
          </p:cNvSpPr>
          <p:nvPr>
            <p:ph type="title"/>
          </p:nvPr>
        </p:nvSpPr>
        <p:spPr>
          <a:xfrm>
            <a:off x="4654295" y="965196"/>
            <a:ext cx="6197686" cy="1371604"/>
          </a:xfrm>
        </p:spPr>
        <p:txBody>
          <a:bodyPr>
            <a:normAutofit/>
          </a:bodyPr>
          <a:lstStyle/>
          <a:p>
            <a:pPr algn="l"/>
            <a:r>
              <a:rPr lang="en-US" dirty="0"/>
              <a:t>The Team</a:t>
            </a:r>
          </a:p>
        </p:txBody>
      </p:sp>
      <p:pic>
        <p:nvPicPr>
          <p:cNvPr id="7" name="Graphic 6" descr="User">
            <a:extLst>
              <a:ext uri="{FF2B5EF4-FFF2-40B4-BE49-F238E27FC236}">
                <a16:creationId xmlns:a16="http://schemas.microsoft.com/office/drawing/2014/main" id="{794C3635-F548-4E77-A7B4-BE393C4244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4332" y="2170143"/>
            <a:ext cx="2517715" cy="2517715"/>
          </a:xfrm>
          <a:prstGeom prst="rect">
            <a:avLst/>
          </a:prstGeom>
          <a:effectLst>
            <a:outerShdw blurRad="50800" dist="38100" dir="16200000" rotWithShape="0">
              <a:prstClr val="black">
                <a:alpha val="40000"/>
              </a:prstClr>
            </a:outerShdw>
          </a:effectLst>
        </p:spPr>
      </p:pic>
      <p:sp>
        <p:nvSpPr>
          <p:cNvPr id="3" name="Content Placeholder 2">
            <a:extLst>
              <a:ext uri="{FF2B5EF4-FFF2-40B4-BE49-F238E27FC236}">
                <a16:creationId xmlns:a16="http://schemas.microsoft.com/office/drawing/2014/main" id="{AACB5DD7-EC60-4BDB-BF8C-F43F3354B41D}"/>
              </a:ext>
            </a:extLst>
          </p:cNvPr>
          <p:cNvSpPr>
            <a:spLocks noGrp="1"/>
          </p:cNvSpPr>
          <p:nvPr>
            <p:ph idx="1"/>
          </p:nvPr>
        </p:nvSpPr>
        <p:spPr>
          <a:xfrm>
            <a:off x="4654295" y="2617694"/>
            <a:ext cx="6197686" cy="3173505"/>
          </a:xfrm>
        </p:spPr>
        <p:txBody>
          <a:bodyPr>
            <a:normAutofit/>
          </a:bodyPr>
          <a:lstStyle/>
          <a:p>
            <a:pPr indent="-305435"/>
            <a:r>
              <a:rPr lang="en-US" dirty="0">
                <a:ln>
                  <a:solidFill>
                    <a:prstClr val="black">
                      <a:lumMod val="75000"/>
                      <a:lumOff val="25000"/>
                      <a:alpha val="10000"/>
                    </a:prstClr>
                  </a:solidFill>
                </a:ln>
                <a:solidFill>
                  <a:schemeClr val="tx1"/>
                </a:solidFill>
                <a:effectLst>
                  <a:outerShdw blurRad="9525" dist="25400" dir="14640000" algn="tl" rotWithShape="0">
                    <a:prstClr val="black">
                      <a:alpha val="30000"/>
                    </a:prstClr>
                  </a:outerShdw>
                </a:effectLst>
              </a:rPr>
              <a:t>Eng. Mohammad Makki</a:t>
            </a:r>
            <a:endParaRPr lang="en-US" dirty="0">
              <a:ln>
                <a:solidFill>
                  <a:prstClr val="black">
                    <a:lumMod val="75000"/>
                    <a:lumOff val="25000"/>
                    <a:alpha val="10000"/>
                  </a:prstClr>
                </a:solidFill>
              </a:ln>
              <a:solidFill>
                <a:schemeClr val="tx1"/>
              </a:solidFill>
              <a:effectLst>
                <a:outerShdw blurRad="9525" dist="25400" dir="14640000" algn="tl" rotWithShape="0">
                  <a:prstClr val="black">
                    <a:alpha val="30000"/>
                  </a:prstClr>
                </a:outerShdw>
              </a:effectLst>
              <a:ea typeface="+mn-lt"/>
              <a:cs typeface="+mn-lt"/>
            </a:endParaRPr>
          </a:p>
          <a:p>
            <a:pPr indent="-305435"/>
            <a:r>
              <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Dr. Amira Zaylaa</a:t>
            </a:r>
            <a:endParaRPr lang="en-US" dirty="0"/>
          </a:p>
        </p:txBody>
      </p:sp>
    </p:spTree>
    <p:extLst>
      <p:ext uri="{BB962C8B-B14F-4D97-AF65-F5344CB8AC3E}">
        <p14:creationId xmlns:p14="http://schemas.microsoft.com/office/powerpoint/2010/main" val="54284848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94AB646F-3BE3-47A3-B14F-9CB84F6BF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913795" y="609599"/>
            <a:ext cx="5978072" cy="1481150"/>
          </a:xfrm>
        </p:spPr>
        <p:txBody>
          <a:bodyPr>
            <a:normAutofit/>
          </a:bodyPr>
          <a:lstStyle/>
          <a:p>
            <a:r>
              <a:rPr lang="en-US" dirty="0"/>
              <a:t>Introduction</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913795" y="2279176"/>
            <a:ext cx="5978072" cy="3415672"/>
          </a:xfrm>
        </p:spPr>
        <p:txBody>
          <a:bodyPr anchor="ctr">
            <a:normAutofit fontScale="92500"/>
          </a:bodyPr>
          <a:lstStyle/>
          <a:p>
            <a:pPr marL="379730" indent="-342900"/>
            <a:r>
              <a:rPr lang="en-US" dirty="0">
                <a:effectLst/>
                <a:ea typeface="+mn-lt"/>
                <a:cs typeface="+mn-lt"/>
              </a:rPr>
              <a:t>The diagnosis </a:t>
            </a:r>
            <a:r>
              <a:rPr lang="en-US" b="0" i="0" dirty="0">
                <a:effectLst/>
                <a:ea typeface="+mn-lt"/>
                <a:cs typeface="+mn-lt"/>
              </a:rPr>
              <a:t>of </a:t>
            </a:r>
            <a:r>
              <a:rPr lang="en-US" dirty="0">
                <a:effectLst/>
                <a:ea typeface="+mn-lt"/>
                <a:cs typeface="+mn-lt"/>
              </a:rPr>
              <a:t>blood-based diseases often involves identifying and characterizing patient blood samples. </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endParaRPr>
          </a:p>
          <a:p>
            <a:pPr marL="379730" indent="-342900"/>
            <a:r>
              <a:rPr lang="en-US" dirty="0">
                <a:effectLst/>
                <a:ea typeface="+mn-lt"/>
                <a:cs typeface="+mn-lt"/>
              </a:rPr>
              <a:t>Automated methods to detect and classify blood cell subtypes have important medical applications</a:t>
            </a:r>
            <a:r>
              <a:rPr lang="en-US" b="0" i="0" dirty="0">
                <a:effectLst/>
                <a:ea typeface="+mn-lt"/>
                <a:cs typeface="+mn-lt"/>
              </a:rPr>
              <a:t>.</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endParaRPr>
          </a:p>
          <a:p>
            <a:pPr marL="379730" indent="-342900"/>
            <a:r>
              <a:rPr lang="en-US" dirty="0">
                <a:effectLst/>
                <a:ea typeface="+mn-lt"/>
                <a:cs typeface="+mn-lt"/>
              </a:rPr>
              <a:t>Automated biomedical image processing </a:t>
            </a:r>
            <a:r>
              <a:rPr lang="en-US" b="0" i="0" dirty="0">
                <a:effectLst/>
                <a:ea typeface="+mn-lt"/>
                <a:cs typeface="+mn-lt"/>
              </a:rPr>
              <a:t>and </a:t>
            </a:r>
            <a:r>
              <a:rPr lang="en-US" dirty="0">
                <a:effectLst/>
                <a:ea typeface="+mn-lt"/>
                <a:cs typeface="+mn-lt"/>
              </a:rPr>
              <a:t>analysis offers </a:t>
            </a:r>
            <a:r>
              <a:rPr lang="en-US" b="0" i="0" dirty="0">
                <a:effectLst/>
                <a:ea typeface="+mn-lt"/>
                <a:cs typeface="+mn-lt"/>
              </a:rPr>
              <a:t>a </a:t>
            </a:r>
            <a:r>
              <a:rPr lang="en-US" dirty="0">
                <a:effectLst/>
                <a:ea typeface="+mn-lt"/>
                <a:cs typeface="+mn-lt"/>
              </a:rPr>
              <a:t>powerful tool for medical diagnosis</a:t>
            </a:r>
            <a:r>
              <a:rPr lang="en-US" b="0" i="0" dirty="0">
                <a:effectLst/>
                <a:ea typeface="+mn-lt"/>
                <a:cs typeface="+mn-lt"/>
              </a:rPr>
              <a:t>.</a:t>
            </a:r>
            <a:endParaRPr lang="en-US">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endParaRPr>
          </a:p>
          <a:p>
            <a:pPr indent="-305435"/>
            <a:endParaRPr lang="en-US">
              <a:ln>
                <a:solidFill>
                  <a:prstClr val="black">
                    <a:lumMod val="75000"/>
                    <a:lumOff val="25000"/>
                    <a:alpha val="10000"/>
                  </a:prstClr>
                </a:solidFill>
              </a:ln>
              <a:effectLst>
                <a:outerShdw blurRad="9525" dist="25400" dir="14640000" algn="tl" rotWithShape="0">
                  <a:prstClr val="black">
                    <a:alpha val="30000"/>
                  </a:prstClr>
                </a:outerShdw>
              </a:effectLst>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5692" r="19408"/>
          <a:stretch/>
        </p:blipFill>
        <p:spPr>
          <a:xfrm>
            <a:off x="7620351" y="10"/>
            <a:ext cx="4571649" cy="6857990"/>
          </a:xfrm>
          <a:prstGeom prst="rect">
            <a:avLst/>
          </a:prstGeom>
        </p:spPr>
      </p:pic>
      <p:pic>
        <p:nvPicPr>
          <p:cNvPr id="64" name="Picture 63">
            <a:extLst>
              <a:ext uri="{FF2B5EF4-FFF2-40B4-BE49-F238E27FC236}">
                <a16:creationId xmlns:a16="http://schemas.microsoft.com/office/drawing/2014/main" id="{E0BE7827-5B1A-4F37-BF70-19F7C5C6BDE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964" r="2807" b="1446"/>
          <a:stretch/>
        </p:blipFill>
        <p:spPr>
          <a:xfrm>
            <a:off x="7501468" y="1"/>
            <a:ext cx="4690532" cy="6858000"/>
          </a:xfrm>
          <a:prstGeom prst="rect">
            <a:avLst/>
          </a:prstGeom>
        </p:spPr>
      </p:pic>
    </p:spTree>
    <p:extLst>
      <p:ext uri="{BB962C8B-B14F-4D97-AF65-F5344CB8AC3E}">
        <p14:creationId xmlns:p14="http://schemas.microsoft.com/office/powerpoint/2010/main" val="3220235682"/>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4AB646F-3BE3-47A3-B14F-9CB84F6BF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682933-27EA-437F-B87C-102C62AD4989}"/>
              </a:ext>
            </a:extLst>
          </p:cNvPr>
          <p:cNvSpPr>
            <a:spLocks noGrp="1"/>
          </p:cNvSpPr>
          <p:nvPr>
            <p:ph type="title"/>
          </p:nvPr>
        </p:nvSpPr>
        <p:spPr>
          <a:xfrm>
            <a:off x="913795" y="609599"/>
            <a:ext cx="5978072" cy="1481150"/>
          </a:xfrm>
        </p:spPr>
        <p:txBody>
          <a:bodyPr vert="horz" lIns="91440" tIns="45720" rIns="91440" bIns="45720" rtlCol="0">
            <a:normAutofit/>
          </a:bodyPr>
          <a:lstStyle/>
          <a:p>
            <a:r>
              <a:rPr lang="en-US"/>
              <a:t>Problem Statement</a:t>
            </a:r>
            <a:endParaRPr lang="en-US" dirty="0"/>
          </a:p>
        </p:txBody>
      </p:sp>
      <p:sp>
        <p:nvSpPr>
          <p:cNvPr id="4" name="Content Placeholder 3">
            <a:extLst>
              <a:ext uri="{FF2B5EF4-FFF2-40B4-BE49-F238E27FC236}">
                <a16:creationId xmlns:a16="http://schemas.microsoft.com/office/drawing/2014/main" id="{B8C021EF-E231-3301-6236-930002CBE2E4}"/>
              </a:ext>
            </a:extLst>
          </p:cNvPr>
          <p:cNvSpPr>
            <a:spLocks noGrp="1"/>
          </p:cNvSpPr>
          <p:nvPr>
            <p:ph idx="1"/>
          </p:nvPr>
        </p:nvSpPr>
        <p:spPr>
          <a:xfrm>
            <a:off x="913795" y="2279176"/>
            <a:ext cx="5978072" cy="3415672"/>
          </a:xfrm>
        </p:spPr>
        <p:txBody>
          <a:bodyPr anchor="ctr">
            <a:normAutofit/>
          </a:bodyPr>
          <a:lstStyle/>
          <a:p>
            <a:pPr marL="37465" indent="0">
              <a:buNone/>
            </a:pPr>
            <a:r>
              <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 In this work we tackle the problem of abnormal red blood cell classification based on the morphological characteristics of the cell. The work explores a set of preprocessing algorithms and Deep Learning Convolutional Neural Networks with a set of feature extraction techniques that can recognize, measure, count and classify the region of interest.</a:t>
            </a:r>
            <a:endParaRPr lang="en-US" dirty="0"/>
          </a:p>
        </p:txBody>
      </p:sp>
      <p:pic>
        <p:nvPicPr>
          <p:cNvPr id="6" name="Picture 6" descr="Table&#10;&#10;Description automatically generated">
            <a:extLst>
              <a:ext uri="{FF2B5EF4-FFF2-40B4-BE49-F238E27FC236}">
                <a16:creationId xmlns:a16="http://schemas.microsoft.com/office/drawing/2014/main" id="{3FA94D24-6291-C846-0486-314CE45B279C}"/>
              </a:ext>
            </a:extLst>
          </p:cNvPr>
          <p:cNvPicPr>
            <a:picLocks noChangeAspect="1"/>
          </p:cNvPicPr>
          <p:nvPr/>
        </p:nvPicPr>
        <p:blipFill rotWithShape="1">
          <a:blip r:embed="rId3"/>
          <a:srcRect r="1" b="2118"/>
          <a:stretch/>
        </p:blipFill>
        <p:spPr>
          <a:xfrm>
            <a:off x="7620351" y="10"/>
            <a:ext cx="4571649" cy="6857990"/>
          </a:xfrm>
          <a:prstGeom prst="rect">
            <a:avLst/>
          </a:prstGeom>
        </p:spPr>
      </p:pic>
      <p:pic>
        <p:nvPicPr>
          <p:cNvPr id="14" name="Picture 18">
            <a:extLst>
              <a:ext uri="{FF2B5EF4-FFF2-40B4-BE49-F238E27FC236}">
                <a16:creationId xmlns:a16="http://schemas.microsoft.com/office/drawing/2014/main" id="{E0BE7827-5B1A-4F37-BF70-19F7C5C6BDE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7501468" y="1"/>
            <a:ext cx="4690532" cy="6858000"/>
          </a:xfrm>
          <a:prstGeom prst="rect">
            <a:avLst/>
          </a:prstGeom>
        </p:spPr>
      </p:pic>
    </p:spTree>
    <p:extLst>
      <p:ext uri="{BB962C8B-B14F-4D97-AF65-F5344CB8AC3E}">
        <p14:creationId xmlns:p14="http://schemas.microsoft.com/office/powerpoint/2010/main" val="731067036"/>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2CA733A-8D25-4E63-8273-CC14052E0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B28264E-43F8-4339-BE92-AA6B94D40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4220681"/>
            <a:ext cx="12188952" cy="2637319"/>
          </a:xfrm>
          <a:prstGeom prst="rect">
            <a:avLst/>
          </a:prstGeom>
          <a:gradFill>
            <a:gsLst>
              <a:gs pos="42000">
                <a:schemeClr val="bg1">
                  <a:alpha val="23000"/>
                </a:schemeClr>
              </a:gs>
              <a:gs pos="0">
                <a:schemeClr val="bg1">
                  <a:alpha val="0"/>
                </a:schemeClr>
              </a:gs>
              <a:gs pos="100000">
                <a:schemeClr val="bg1">
                  <a:alpha val="36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682933-27EA-437F-B87C-102C62AD4989}"/>
              </a:ext>
            </a:extLst>
          </p:cNvPr>
          <p:cNvSpPr>
            <a:spLocks noGrp="1"/>
          </p:cNvSpPr>
          <p:nvPr>
            <p:ph type="title"/>
          </p:nvPr>
        </p:nvSpPr>
        <p:spPr>
          <a:xfrm>
            <a:off x="1272219" y="377266"/>
            <a:ext cx="9440034" cy="1088336"/>
          </a:xfrm>
        </p:spPr>
        <p:txBody>
          <a:bodyPr vert="horz" lIns="91440" tIns="45720" rIns="91440" bIns="45720" rtlCol="0" anchor="b">
            <a:normAutofit/>
          </a:bodyPr>
          <a:lstStyle/>
          <a:p>
            <a:r>
              <a:rPr lang="en-US" sz="4800" dirty="0">
                <a:ln>
                  <a:solidFill>
                    <a:prstClr val="black">
                      <a:lumMod val="75000"/>
                      <a:lumOff val="25000"/>
                      <a:alpha val="10000"/>
                    </a:prstClr>
                  </a:solidFill>
                </a:ln>
                <a:effectLst>
                  <a:outerShdw blurRad="9525" dist="25400" dir="14640000" algn="tl" rotWithShape="0">
                    <a:prstClr val="black">
                      <a:alpha val="30000"/>
                    </a:prstClr>
                  </a:outerShdw>
                </a:effectLst>
              </a:rPr>
              <a:t>Video of Prototype</a:t>
            </a:r>
            <a:endParaRPr lang="en-US" dirty="0"/>
          </a:p>
        </p:txBody>
      </p:sp>
      <p:pic>
        <p:nvPicPr>
          <p:cNvPr id="6" name="Online Media 5" title="Demo of AI diagnosis app prototype">
            <a:hlinkClick r:id="" action="ppaction://media"/>
            <a:extLst>
              <a:ext uri="{FF2B5EF4-FFF2-40B4-BE49-F238E27FC236}">
                <a16:creationId xmlns:a16="http://schemas.microsoft.com/office/drawing/2014/main" id="{183081D5-4EA9-AD3E-C90B-45A15186DA56}"/>
              </a:ext>
            </a:extLst>
          </p:cNvPr>
          <p:cNvPicPr>
            <a:picLocks noGrp="1" noRot="1" noChangeAspect="1"/>
          </p:cNvPicPr>
          <p:nvPr>
            <p:ph idx="1"/>
            <a:videoFile r:link="rId1"/>
          </p:nvPr>
        </p:nvPicPr>
        <p:blipFill>
          <a:blip r:embed="rId4"/>
          <a:stretch>
            <a:fillRect/>
          </a:stretch>
        </p:blipFill>
        <p:spPr>
          <a:xfrm>
            <a:off x="1445495" y="1457325"/>
            <a:ext cx="9303773" cy="4916128"/>
          </a:xfrm>
        </p:spPr>
      </p:pic>
    </p:spTree>
    <p:extLst>
      <p:ext uri="{BB962C8B-B14F-4D97-AF65-F5344CB8AC3E}">
        <p14:creationId xmlns:p14="http://schemas.microsoft.com/office/powerpoint/2010/main" val="626041325"/>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1E70A317-DCED-4E80-AA2D-467D8702E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B2DA9943-40C6-605C-47C5-0196E5A90212}"/>
              </a:ext>
            </a:extLst>
          </p:cNvPr>
          <p:cNvSpPr>
            <a:spLocks noGrp="1"/>
          </p:cNvSpPr>
          <p:nvPr/>
        </p:nvSpPr>
        <p:spPr>
          <a:xfrm>
            <a:off x="861791" y="835383"/>
            <a:ext cx="3382832" cy="3499549"/>
          </a:xfrm>
          <a:prstGeom prst="rect">
            <a:avLst/>
          </a:prstGeom>
        </p:spPr>
        <p:txBody>
          <a:bodyPr vert="horz" lIns="91440" tIns="45720" rIns="91440" bIns="45720" rtlCol="0" anchor="b">
            <a:normAutofit/>
          </a:bodyPr>
          <a:lst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spcAft>
                <a:spcPts val="600"/>
              </a:spcAft>
            </a:pPr>
            <a:r>
              <a:rPr lang="en-US" sz="4200"/>
              <a:t>Block Diagram</a:t>
            </a:r>
          </a:p>
        </p:txBody>
      </p:sp>
      <p:sp>
        <p:nvSpPr>
          <p:cNvPr id="45" name="Rectangle 44">
            <a:extLst>
              <a:ext uri="{FF2B5EF4-FFF2-40B4-BE49-F238E27FC236}">
                <a16:creationId xmlns:a16="http://schemas.microsoft.com/office/drawing/2014/main" id="{A6D87845-294F-40CB-BC48-46455460D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5671" y="0"/>
            <a:ext cx="753632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descr="Diagram&#10;&#10;Description automatically generated">
            <a:extLst>
              <a:ext uri="{FF2B5EF4-FFF2-40B4-BE49-F238E27FC236}">
                <a16:creationId xmlns:a16="http://schemas.microsoft.com/office/drawing/2014/main" id="{245985B0-CAA7-3E61-149D-9E58C968DA30}"/>
              </a:ext>
            </a:extLst>
          </p:cNvPr>
          <p:cNvPicPr>
            <a:picLocks noChangeAspect="1"/>
          </p:cNvPicPr>
          <p:nvPr/>
        </p:nvPicPr>
        <p:blipFill>
          <a:blip r:embed="rId3"/>
          <a:stretch>
            <a:fillRect/>
          </a:stretch>
        </p:blipFill>
        <p:spPr>
          <a:xfrm>
            <a:off x="5324315" y="1298551"/>
            <a:ext cx="6197668" cy="4260897"/>
          </a:xfrm>
          <a:prstGeom prst="rect">
            <a:avLst/>
          </a:prstGeom>
        </p:spPr>
      </p:pic>
    </p:spTree>
    <p:extLst>
      <p:ext uri="{BB962C8B-B14F-4D97-AF65-F5344CB8AC3E}">
        <p14:creationId xmlns:p14="http://schemas.microsoft.com/office/powerpoint/2010/main" val="2272959426"/>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28" name="Rectangle 23">
            <a:extLst>
              <a:ext uri="{FF2B5EF4-FFF2-40B4-BE49-F238E27FC236}">
                <a16:creationId xmlns:a16="http://schemas.microsoft.com/office/drawing/2014/main" id="{2A2456A0-13DF-4BA8-9BDD-168E874C4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682933-27EA-437F-B87C-102C62AD4989}"/>
              </a:ext>
            </a:extLst>
          </p:cNvPr>
          <p:cNvSpPr>
            <a:spLocks noGrp="1"/>
          </p:cNvSpPr>
          <p:nvPr>
            <p:ph type="title"/>
          </p:nvPr>
        </p:nvSpPr>
        <p:spPr>
          <a:xfrm>
            <a:off x="913795" y="609599"/>
            <a:ext cx="5978072" cy="1481150"/>
          </a:xfrm>
        </p:spPr>
        <p:txBody>
          <a:bodyPr vert="horz" lIns="91440" tIns="45720" rIns="91440" bIns="45720" rtlCol="0">
            <a:normAutofit/>
          </a:bodyPr>
          <a:lstStyle/>
          <a:p>
            <a:r>
              <a:rPr lang="en-US">
                <a:ln>
                  <a:solidFill>
                    <a:prstClr val="black">
                      <a:lumMod val="75000"/>
                      <a:lumOff val="25000"/>
                      <a:alpha val="10000"/>
                    </a:prstClr>
                  </a:solidFill>
                </a:ln>
                <a:effectLst>
                  <a:outerShdw blurRad="9525" dist="25400" dir="14640000" algn="tl" rotWithShape="0">
                    <a:prstClr val="black">
                      <a:alpha val="30000"/>
                    </a:prstClr>
                  </a:outerShdw>
                </a:effectLst>
              </a:rPr>
              <a:t>Outcome Benefits</a:t>
            </a:r>
          </a:p>
        </p:txBody>
      </p:sp>
      <p:sp>
        <p:nvSpPr>
          <p:cNvPr id="4" name="Content Placeholder 3">
            <a:extLst>
              <a:ext uri="{FF2B5EF4-FFF2-40B4-BE49-F238E27FC236}">
                <a16:creationId xmlns:a16="http://schemas.microsoft.com/office/drawing/2014/main" id="{8AA67318-32A7-4003-351D-EE7B94066637}"/>
              </a:ext>
            </a:extLst>
          </p:cNvPr>
          <p:cNvSpPr>
            <a:spLocks noGrp="1"/>
          </p:cNvSpPr>
          <p:nvPr>
            <p:ph idx="1"/>
          </p:nvPr>
        </p:nvSpPr>
        <p:spPr>
          <a:xfrm>
            <a:off x="913795" y="2354729"/>
            <a:ext cx="5978072" cy="3340119"/>
          </a:xfrm>
        </p:spPr>
        <p:txBody>
          <a:bodyPr anchor="t">
            <a:normAutofit/>
          </a:bodyPr>
          <a:lstStyle/>
          <a:p>
            <a:pPr marL="37465" indent="0">
              <a:lnSpc>
                <a:spcPct val="100000"/>
              </a:lnSpc>
              <a:buNone/>
            </a:pPr>
            <a:r>
              <a:rPr lang="en-US" sz="2100"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The outcome of this work can be used as a framework by medical doctors or researchers for automated blood cell classification and feature extraction, it can aid in the diagnosis and treatment process of related blood diseases.</a:t>
            </a:r>
          </a:p>
        </p:txBody>
      </p:sp>
      <p:pic>
        <p:nvPicPr>
          <p:cNvPr id="29" name="Picture 25">
            <a:extLst>
              <a:ext uri="{FF2B5EF4-FFF2-40B4-BE49-F238E27FC236}">
                <a16:creationId xmlns:a16="http://schemas.microsoft.com/office/drawing/2014/main" id="{7AEE9CAC-347C-43C2-AE87-6BC5566E60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7232905" y="1"/>
            <a:ext cx="4959095" cy="6858000"/>
          </a:xfrm>
          <a:prstGeom prst="rect">
            <a:avLst/>
          </a:prstGeom>
        </p:spPr>
      </p:pic>
      <p:pic>
        <p:nvPicPr>
          <p:cNvPr id="6" name="Picture 6" descr="Graphical user interface, application&#10;&#10;Description automatically generated">
            <a:extLst>
              <a:ext uri="{FF2B5EF4-FFF2-40B4-BE49-F238E27FC236}">
                <a16:creationId xmlns:a16="http://schemas.microsoft.com/office/drawing/2014/main" id="{A2E7D917-A0BF-B766-F7D8-295EBDDF37AC}"/>
              </a:ext>
            </a:extLst>
          </p:cNvPr>
          <p:cNvPicPr>
            <a:picLocks noChangeAspect="1"/>
          </p:cNvPicPr>
          <p:nvPr/>
        </p:nvPicPr>
        <p:blipFill>
          <a:blip r:embed="rId4"/>
          <a:stretch>
            <a:fillRect/>
          </a:stretch>
        </p:blipFill>
        <p:spPr>
          <a:xfrm>
            <a:off x="8192041" y="1811045"/>
            <a:ext cx="3044435" cy="4402824"/>
          </a:xfrm>
          <a:prstGeom prst="rect">
            <a:avLst/>
          </a:prstGeom>
        </p:spPr>
      </p:pic>
      <p:pic>
        <p:nvPicPr>
          <p:cNvPr id="8" name="Picture 8" descr="Graphical user interface, chart, bubble chart&#10;&#10;Description automatically generated">
            <a:extLst>
              <a:ext uri="{FF2B5EF4-FFF2-40B4-BE49-F238E27FC236}">
                <a16:creationId xmlns:a16="http://schemas.microsoft.com/office/drawing/2014/main" id="{DC33B9D7-6390-8677-9D1F-1ECDED5EC3D3}"/>
              </a:ext>
            </a:extLst>
          </p:cNvPr>
          <p:cNvPicPr>
            <a:picLocks noChangeAspect="1"/>
          </p:cNvPicPr>
          <p:nvPr/>
        </p:nvPicPr>
        <p:blipFill>
          <a:blip r:embed="rId5"/>
          <a:stretch>
            <a:fillRect/>
          </a:stretch>
        </p:blipFill>
        <p:spPr>
          <a:xfrm>
            <a:off x="9096837" y="608986"/>
            <a:ext cx="1225038" cy="1215513"/>
          </a:xfrm>
          <a:prstGeom prst="rect">
            <a:avLst/>
          </a:prstGeom>
        </p:spPr>
      </p:pic>
    </p:spTree>
    <p:extLst>
      <p:ext uri="{BB962C8B-B14F-4D97-AF65-F5344CB8AC3E}">
        <p14:creationId xmlns:p14="http://schemas.microsoft.com/office/powerpoint/2010/main" val="3707445238"/>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4AB646F-3BE3-47A3-B14F-9CB84F6BF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682933-27EA-437F-B87C-102C62AD4989}"/>
              </a:ext>
            </a:extLst>
          </p:cNvPr>
          <p:cNvSpPr>
            <a:spLocks noGrp="1"/>
          </p:cNvSpPr>
          <p:nvPr>
            <p:ph type="title"/>
          </p:nvPr>
        </p:nvSpPr>
        <p:spPr>
          <a:xfrm>
            <a:off x="913795" y="609599"/>
            <a:ext cx="5978072" cy="1481150"/>
          </a:xfrm>
        </p:spPr>
        <p:txBody>
          <a:bodyPr vert="horz" lIns="91440" tIns="45720" rIns="91440" bIns="45720" rtlCol="0">
            <a:normAutofit/>
          </a:bodyPr>
          <a:lstStyle/>
          <a:p>
            <a:r>
              <a:rPr lang="en-US">
                <a:ln>
                  <a:solidFill>
                    <a:prstClr val="black">
                      <a:lumMod val="75000"/>
                      <a:lumOff val="25000"/>
                      <a:alpha val="10000"/>
                    </a:prstClr>
                  </a:solidFill>
                </a:ln>
                <a:effectLst>
                  <a:outerShdw blurRad="9525" dist="25400" dir="14640000" algn="tl" rotWithShape="0">
                    <a:prstClr val="black">
                      <a:alpha val="30000"/>
                    </a:prstClr>
                  </a:outerShdw>
                </a:effectLst>
              </a:rPr>
              <a:t>Results</a:t>
            </a:r>
            <a:endParaRPr lang="en-US" dirty="0"/>
          </a:p>
        </p:txBody>
      </p:sp>
      <p:sp>
        <p:nvSpPr>
          <p:cNvPr id="4" name="Content Placeholder 3">
            <a:extLst>
              <a:ext uri="{FF2B5EF4-FFF2-40B4-BE49-F238E27FC236}">
                <a16:creationId xmlns:a16="http://schemas.microsoft.com/office/drawing/2014/main" id="{8AA67318-32A7-4003-351D-EE7B94066637}"/>
              </a:ext>
            </a:extLst>
          </p:cNvPr>
          <p:cNvSpPr>
            <a:spLocks noGrp="1"/>
          </p:cNvSpPr>
          <p:nvPr>
            <p:ph idx="1"/>
          </p:nvPr>
        </p:nvSpPr>
        <p:spPr>
          <a:xfrm>
            <a:off x="913795" y="2279176"/>
            <a:ext cx="5978072" cy="3415672"/>
          </a:xfrm>
        </p:spPr>
        <p:txBody>
          <a:bodyPr anchor="ctr">
            <a:normAutofit/>
          </a:bodyPr>
          <a:lstStyle/>
          <a:p>
            <a:pPr marL="37465" indent="0">
              <a:buNone/>
            </a:pPr>
            <a:r>
              <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All models had an </a:t>
            </a:r>
            <a:r>
              <a:rPr lang="en-US" dirty="0" err="1">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IoU</a:t>
            </a:r>
            <a:r>
              <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 score above 0.942 on the training dataset and an </a:t>
            </a:r>
            <a:r>
              <a:rPr lang="en-US" dirty="0" err="1">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IoU</a:t>
            </a:r>
            <a:r>
              <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 score above 0.828 on the validation dataset. </a:t>
            </a:r>
            <a:endParaRPr lang="en-US">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endParaRPr>
          </a:p>
          <a:p>
            <a:pPr marL="37465" indent="0">
              <a:buNone/>
            </a:pPr>
            <a:r>
              <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Lastly with Prediction Time Augmentation predicted on the dataset all models achieved a mean </a:t>
            </a:r>
            <a:r>
              <a:rPr lang="en-US" dirty="0" err="1">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IoU</a:t>
            </a:r>
            <a:r>
              <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 score above 0.882 </a:t>
            </a:r>
            <a:endParaRPr lang="en-US"/>
          </a:p>
          <a:p>
            <a:pPr marL="37465" indent="0">
              <a:buNone/>
            </a:pP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pic>
        <p:nvPicPr>
          <p:cNvPr id="19" name="Picture 18">
            <a:extLst>
              <a:ext uri="{FF2B5EF4-FFF2-40B4-BE49-F238E27FC236}">
                <a16:creationId xmlns:a16="http://schemas.microsoft.com/office/drawing/2014/main" id="{E0BE7827-5B1A-4F37-BF70-19F7C5C6BDE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7501468" y="1"/>
            <a:ext cx="4690532" cy="6858000"/>
          </a:xfrm>
          <a:prstGeom prst="rect">
            <a:avLst/>
          </a:prstGeom>
        </p:spPr>
      </p:pic>
      <p:pic>
        <p:nvPicPr>
          <p:cNvPr id="5" name="Picture 5">
            <a:extLst>
              <a:ext uri="{FF2B5EF4-FFF2-40B4-BE49-F238E27FC236}">
                <a16:creationId xmlns:a16="http://schemas.microsoft.com/office/drawing/2014/main" id="{A7574A19-37D3-77B2-17F0-A67A0E048D57}"/>
              </a:ext>
            </a:extLst>
          </p:cNvPr>
          <p:cNvPicPr>
            <a:picLocks noChangeAspect="1"/>
          </p:cNvPicPr>
          <p:nvPr/>
        </p:nvPicPr>
        <p:blipFill>
          <a:blip r:embed="rId4"/>
          <a:stretch>
            <a:fillRect/>
          </a:stretch>
        </p:blipFill>
        <p:spPr>
          <a:xfrm>
            <a:off x="7912467" y="643467"/>
            <a:ext cx="3572200" cy="2624667"/>
          </a:xfrm>
          <a:prstGeom prst="rect">
            <a:avLst/>
          </a:prstGeom>
        </p:spPr>
      </p:pic>
      <p:pic>
        <p:nvPicPr>
          <p:cNvPr id="3" name="Picture 4">
            <a:extLst>
              <a:ext uri="{FF2B5EF4-FFF2-40B4-BE49-F238E27FC236}">
                <a16:creationId xmlns:a16="http://schemas.microsoft.com/office/drawing/2014/main" id="{937ED33F-87B9-1D77-C0BB-32122488AD68}"/>
              </a:ext>
            </a:extLst>
          </p:cNvPr>
          <p:cNvPicPr>
            <a:picLocks noChangeAspect="1"/>
          </p:cNvPicPr>
          <p:nvPr/>
        </p:nvPicPr>
        <p:blipFill>
          <a:blip r:embed="rId5"/>
          <a:stretch>
            <a:fillRect/>
          </a:stretch>
        </p:blipFill>
        <p:spPr>
          <a:xfrm>
            <a:off x="7901453" y="3589863"/>
            <a:ext cx="3594227" cy="2624668"/>
          </a:xfrm>
          <a:prstGeom prst="rect">
            <a:avLst/>
          </a:prstGeom>
        </p:spPr>
      </p:pic>
    </p:spTree>
    <p:extLst>
      <p:ext uri="{BB962C8B-B14F-4D97-AF65-F5344CB8AC3E}">
        <p14:creationId xmlns:p14="http://schemas.microsoft.com/office/powerpoint/2010/main" val="694677336"/>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2CA733A-8D25-4E63-8273-CC14052E0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B28264E-43F8-4339-BE92-AA6B94D40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4220681"/>
            <a:ext cx="12188952" cy="2637319"/>
          </a:xfrm>
          <a:prstGeom prst="rect">
            <a:avLst/>
          </a:prstGeom>
          <a:gradFill>
            <a:gsLst>
              <a:gs pos="42000">
                <a:schemeClr val="bg1">
                  <a:alpha val="23000"/>
                </a:schemeClr>
              </a:gs>
              <a:gs pos="0">
                <a:schemeClr val="bg1">
                  <a:alpha val="0"/>
                </a:schemeClr>
              </a:gs>
              <a:gs pos="100000">
                <a:schemeClr val="bg1">
                  <a:alpha val="36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682933-27EA-437F-B87C-102C62AD4989}"/>
              </a:ext>
            </a:extLst>
          </p:cNvPr>
          <p:cNvSpPr>
            <a:spLocks noGrp="1"/>
          </p:cNvSpPr>
          <p:nvPr>
            <p:ph type="title"/>
          </p:nvPr>
        </p:nvSpPr>
        <p:spPr>
          <a:xfrm>
            <a:off x="1272219" y="377266"/>
            <a:ext cx="9440034" cy="1088336"/>
          </a:xfrm>
        </p:spPr>
        <p:txBody>
          <a:bodyPr vert="horz" lIns="91440" tIns="45720" rIns="91440" bIns="45720" rtlCol="0" anchor="b">
            <a:normAutofit/>
          </a:bodyPr>
          <a:lstStyle/>
          <a:p>
            <a:r>
              <a:rPr lang="en-US" sz="4800" dirty="0">
                <a:ln>
                  <a:solidFill>
                    <a:prstClr val="black">
                      <a:lumMod val="75000"/>
                      <a:lumOff val="25000"/>
                      <a:alpha val="10000"/>
                    </a:prstClr>
                  </a:solidFill>
                </a:ln>
                <a:effectLst>
                  <a:outerShdw blurRad="9525" dist="25400" dir="14640000" algn="tl" rotWithShape="0">
                    <a:prstClr val="black">
                      <a:alpha val="30000"/>
                    </a:prstClr>
                  </a:outerShdw>
                </a:effectLst>
              </a:rPr>
              <a:t>Technical Summary</a:t>
            </a:r>
            <a:endParaRPr lang="en-US" dirty="0"/>
          </a:p>
        </p:txBody>
      </p:sp>
      <p:sp>
        <p:nvSpPr>
          <p:cNvPr id="4" name="Content Placeholder 3">
            <a:extLst>
              <a:ext uri="{FF2B5EF4-FFF2-40B4-BE49-F238E27FC236}">
                <a16:creationId xmlns:a16="http://schemas.microsoft.com/office/drawing/2014/main" id="{8AA67318-32A7-4003-351D-EE7B94066637}"/>
              </a:ext>
            </a:extLst>
          </p:cNvPr>
          <p:cNvSpPr>
            <a:spLocks noGrp="1"/>
          </p:cNvSpPr>
          <p:nvPr>
            <p:ph idx="1"/>
          </p:nvPr>
        </p:nvSpPr>
        <p:spPr>
          <a:xfrm>
            <a:off x="1024407" y="1879805"/>
            <a:ext cx="9911311" cy="4661103"/>
          </a:xfrm>
        </p:spPr>
        <p:txBody>
          <a:bodyPr>
            <a:normAutofit fontScale="77500" lnSpcReduction="20000"/>
          </a:bodyPr>
          <a:lstStyle/>
          <a:p>
            <a:pPr indent="-305435">
              <a:buNone/>
            </a:pPr>
            <a:r>
              <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      The application is built in React Native to provide cross platform functionality across Android, IOS and Web platforms. The application communicates with a REST API, built in Python (Flask) hosting the Artificial Intelligence through a secure tunnel. Once it receives an image it applies different preprocessing techniques to identify the appropriate patch size to crop the image into patches suitable for the AI to process. These patches are then passed to the chosen AI models to predict on them. Each AI is a binary semantic image segmentation model with Residual and Attention </a:t>
            </a:r>
            <a:r>
              <a:rPr lang="en-US" dirty="0" err="1">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Unet</a:t>
            </a:r>
            <a:r>
              <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 architecture. The models are ensembled to perform as a single multiclass model, this process pipeline enables customization, helps in maintaining high accuracy rates for each class and provides an efficient way for scaling up the system. Prediction time augmentation is applied to get a more accurate prediction. Then the resulting prediction for each patch are reassembled into the full-sized image by applying smooth blending. The server then proceeds to extract features from the prediction (Area, Equivalent Diameter, Perimeter, Eccentricity, Orientation and Hu moments up to the sixth order ). Finally, the API packs the results in a JSON format and sends it back to the application. Upon receiving the results, the application opens a new page displaying them. It also provides an option to download the images as PNG and the extracted features as a CSV file. Lastly, The application interacts with an Arduino system if available via Bluetooth.</a:t>
            </a:r>
            <a:endParaRPr lang="en-US">
              <a:ln>
                <a:solidFill>
                  <a:prstClr val="black">
                    <a:lumMod val="75000"/>
                    <a:lumOff val="25000"/>
                    <a:alpha val="10000"/>
                  </a:prstClr>
                </a:solidFill>
              </a:ln>
              <a:effectLst>
                <a:outerShdw blurRad="9525" dist="25400" dir="14640000" algn="tl" rotWithShape="0">
                  <a:prstClr val="black">
                    <a:alpha val="30000"/>
                  </a:prstClr>
                </a:outerShdw>
              </a:effectLst>
            </a:endParaRPr>
          </a:p>
          <a:p>
            <a:pPr marL="37465" indent="0">
              <a:buNone/>
            </a:pP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Tree>
    <p:extLst>
      <p:ext uri="{BB962C8B-B14F-4D97-AF65-F5344CB8AC3E}">
        <p14:creationId xmlns:p14="http://schemas.microsoft.com/office/powerpoint/2010/main" val="400109601"/>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1158B-AB4D-4059-BB05-515A407FC43F}"/>
              </a:ext>
            </a:extLst>
          </p:cNvPr>
          <p:cNvSpPr>
            <a:spLocks noGrp="1"/>
          </p:cNvSpPr>
          <p:nvPr>
            <p:ph type="title"/>
          </p:nvPr>
        </p:nvSpPr>
        <p:spPr>
          <a:xfrm>
            <a:off x="919119" y="2800350"/>
            <a:ext cx="10353762" cy="1257300"/>
          </a:xfrm>
        </p:spPr>
        <p:txBody>
          <a:bodyPr/>
          <a:lstStyle/>
          <a:p>
            <a:r>
              <a:rPr lang="en-US"/>
              <a:t>Thank you</a:t>
            </a:r>
            <a:endParaRPr lang="en-US" dirty="0"/>
          </a:p>
        </p:txBody>
      </p:sp>
    </p:spTree>
    <p:extLst>
      <p:ext uri="{BB962C8B-B14F-4D97-AF65-F5344CB8AC3E}">
        <p14:creationId xmlns:p14="http://schemas.microsoft.com/office/powerpoint/2010/main" val="597657461"/>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b839c4b9-d7c5-498e-b214-6e00edf9336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8F93412A5B7034992E27D88F51D071B" ma:contentTypeVersion="7" ma:contentTypeDescription="Create a new document." ma:contentTypeScope="" ma:versionID="b03e6819544ac90aedaf4580c707bc05">
  <xsd:schema xmlns:xsd="http://www.w3.org/2001/XMLSchema" xmlns:xs="http://www.w3.org/2001/XMLSchema" xmlns:p="http://schemas.microsoft.com/office/2006/metadata/properties" xmlns:ns3="b839c4b9-d7c5-498e-b214-6e00edf93369" xmlns:ns4="8df75a51-db7c-41a3-92cd-06ff06d43a0e" targetNamespace="http://schemas.microsoft.com/office/2006/metadata/properties" ma:root="true" ma:fieldsID="a13452711b85191557e3bd6d9105bfb7" ns3:_="" ns4:_="">
    <xsd:import namespace="b839c4b9-d7c5-498e-b214-6e00edf93369"/>
    <xsd:import namespace="8df75a51-db7c-41a3-92cd-06ff06d43a0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39c4b9-d7c5-498e-b214-6e00edf9336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df75a51-db7c-41a3-92cd-06ff06d43a0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2C4C00F4-06E9-43E3-AD97-88A857CEFA82}">
  <ds:schemaRefs>
    <ds:schemaRef ds:uri="http://purl.org/dc/elements/1.1/"/>
    <ds:schemaRef ds:uri="http://schemas.microsoft.com/office/2006/metadata/properties"/>
    <ds:schemaRef ds:uri="http://www.w3.org/XML/1998/namespace"/>
    <ds:schemaRef ds:uri="http://schemas.microsoft.com/office/2006/documentManagement/types"/>
    <ds:schemaRef ds:uri="http://purl.org/dc/terms/"/>
    <ds:schemaRef ds:uri="http://purl.org/dc/dcmitype/"/>
    <ds:schemaRef ds:uri="http://schemas.openxmlformats.org/package/2006/metadata/core-properties"/>
    <ds:schemaRef ds:uri="http://schemas.microsoft.com/office/infopath/2007/PartnerControls"/>
    <ds:schemaRef ds:uri="8df75a51-db7c-41a3-92cd-06ff06d43a0e"/>
    <ds:schemaRef ds:uri="b839c4b9-d7c5-498e-b214-6e00edf93369"/>
  </ds:schemaRefs>
</ds:datastoreItem>
</file>

<file path=customXml/itemProps3.xml><?xml version="1.0" encoding="utf-8"?>
<ds:datastoreItem xmlns:ds="http://schemas.openxmlformats.org/officeDocument/2006/customXml" ds:itemID="{1EF1EDC9-8A3A-4963-85CF-D776E2F59E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39c4b9-d7c5-498e-b214-6e00edf93369"/>
    <ds:schemaRef ds:uri="8df75a51-db7c-41a3-92cd-06ff06d43a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{F52D982A-FCEE-44D0-B7B9-FF650D6A2D9E}tf55705232_win32</Template>
  <TotalTime>38</TotalTime>
  <Words>110</Words>
  <Application>Microsoft Office PowerPoint</Application>
  <PresentationFormat>Widescreen</PresentationFormat>
  <Paragraphs>25</Paragraphs>
  <Slides>10</Slides>
  <Notes>2</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SlateVTI</vt:lpstr>
      <vt:lpstr>A Cutting Edge App and Website Bringing AI to the Automatic Detection of Multi purpose Blood Diseases For Diagnosis, and Treatment</vt:lpstr>
      <vt:lpstr>The Team</vt:lpstr>
      <vt:lpstr>Introduction</vt:lpstr>
      <vt:lpstr>Problem Statement</vt:lpstr>
      <vt:lpstr>Video of Prototype</vt:lpstr>
      <vt:lpstr>PowerPoint Presentation</vt:lpstr>
      <vt:lpstr>Outcome Benefits</vt:lpstr>
      <vt:lpstr>Results</vt:lpstr>
      <vt:lpstr>Technical 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dc:title>
  <dc:creator>Mohammad Nabil Makki</dc:creator>
  <cp:lastModifiedBy>Mohammad Nabil Makki</cp:lastModifiedBy>
  <cp:revision>215</cp:revision>
  <dcterms:created xsi:type="dcterms:W3CDTF">2021-06-21T07:40:43Z</dcterms:created>
  <dcterms:modified xsi:type="dcterms:W3CDTF">2022-07-27T11:39:14Z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0x01010078F93412A5B7034992E27D88F51D071B</vt:lpwstr>
  </property>
</Properties>
</file>